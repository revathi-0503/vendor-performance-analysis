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Gelasio" panose="020B0604020202020204" charset="0"/>
      <p:regular r:id="rId13"/>
    </p:embeddedFont>
    <p:embeddedFont>
      <p:font typeface="Lato" panose="020F0502020204030203" pitchFamily="34" charset="0"/>
      <p:regular r:id="rId14"/>
    </p:embeddedFont>
    <p:embeddedFont>
      <p:font typeface="Lato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34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0364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696120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Vendor Performance Data Analytics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794695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Optimizing Profitability through Data-Driven Insights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180978"/>
            <a:ext cx="2603078" cy="266402"/>
          </a:xfrm>
          <a:prstGeom prst="roundRect">
            <a:avLst>
              <a:gd name="adj" fmla="val 17880"/>
            </a:avLst>
          </a:prstGeom>
          <a:noFill/>
          <a:ln/>
          <a:effectLst>
            <a:outerShdw blurRad="101600" dist="50800" dir="16200000" algn="bl" rotWithShape="0">
              <a:srgbClr val="E5E5E0">
                <a:alpha val="10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81174" y="3223468"/>
            <a:ext cx="2890168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5E5E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RETAIL ANALYTICS · SQL · PYTHON · POWER BI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3445"/>
            <a:ext cx="3336801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Business Problem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96119" y="960537"/>
            <a:ext cx="860896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Retail and wholesale operations face persistent inefficiencies in pricing strategy, inventory turnover, and vendor management — directly eroding profit margins.</a:t>
            </a:r>
            <a:endParaRPr lang="en-US" sz="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337965"/>
            <a:ext cx="2670423" cy="10332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2675" y="1467371"/>
            <a:ext cx="1556891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Inventory Holding Costs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82675" y="1740843"/>
            <a:ext cx="2354461" cy="500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Excess stock ties up capital and increases warehousing expenses without proportional revenue returns.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464743"/>
            <a:ext cx="2670423" cy="103323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2675" y="2594149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Inefficient Pricing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82675" y="2867620"/>
            <a:ext cx="2354461" cy="500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Static pricing models fail to reflect vendor performance, demand patterns, or bulk purchasing leverage.</a:t>
            </a:r>
            <a:endParaRPr lang="en-US" sz="9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591520"/>
            <a:ext cx="2670423" cy="103323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82675" y="3720926"/>
            <a:ext cx="1732136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Vendor Concentration Risk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682675" y="3994398"/>
            <a:ext cx="2354461" cy="500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Revenue dependency on a small number of vendors creates operational vulnerability and negotiation imbalance.</a:t>
            </a:r>
            <a:endParaRPr lang="en-US" sz="9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2292" y="1507927"/>
            <a:ext cx="5200278" cy="294679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8654"/>
            <a:ext cx="3890590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Project Objectives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6119" y="1113830"/>
            <a:ext cx="8608963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Four core goals drive this analytics initiative, each targeting a measurable improvement in retail operations.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96119" y="1479798"/>
            <a:ext cx="4009355" cy="1555998"/>
          </a:xfrm>
          <a:prstGeom prst="roundRect">
            <a:avLst>
              <a:gd name="adj" fmla="val 3707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8175" y="1621854"/>
            <a:ext cx="411956" cy="411956"/>
          </a:xfrm>
          <a:prstGeom prst="ellipse">
            <a:avLst/>
          </a:prstGeom>
          <a:solidFill>
            <a:srgbClr val="E5E5E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1433" y="1735113"/>
            <a:ext cx="185365" cy="1853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8175" y="2166789"/>
            <a:ext cx="2377455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Optimize Vendor Relationships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8175" y="2461096"/>
            <a:ext cx="3725242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Identify top-performing partners and renegotiate terms to maximize value.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38452" y="1479798"/>
            <a:ext cx="4009430" cy="1555998"/>
          </a:xfrm>
          <a:prstGeom prst="roundRect">
            <a:avLst>
              <a:gd name="adj" fmla="val 3707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80508" y="1621854"/>
            <a:ext cx="411956" cy="411956"/>
          </a:xfrm>
          <a:prstGeom prst="ellipse">
            <a:avLst/>
          </a:prstGeom>
          <a:solidFill>
            <a:srgbClr val="E5E5E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93766" y="1735113"/>
            <a:ext cx="185365" cy="1853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80508" y="2166789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Reduce Holding Costs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780508" y="2461096"/>
            <a:ext cx="3725317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Pinpoint slow-moving inventory and align purchasing with actual demand signals.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96119" y="3168774"/>
            <a:ext cx="4009355" cy="1555998"/>
          </a:xfrm>
          <a:prstGeom prst="roundRect">
            <a:avLst>
              <a:gd name="adj" fmla="val 3707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8175" y="3310830"/>
            <a:ext cx="411956" cy="411956"/>
          </a:xfrm>
          <a:prstGeom prst="ellipse">
            <a:avLst/>
          </a:prstGeom>
          <a:solidFill>
            <a:srgbClr val="E5E5E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1433" y="3424089"/>
            <a:ext cx="185365" cy="1853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8175" y="3855765"/>
            <a:ext cx="1791667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Improve Profit Margins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38175" y="4150072"/>
            <a:ext cx="3725242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Use statistical evidence to guide pricing, promotions, and procurement decisions.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638452" y="3168774"/>
            <a:ext cx="4009430" cy="1555998"/>
          </a:xfrm>
          <a:prstGeom prst="roundRect">
            <a:avLst>
              <a:gd name="adj" fmla="val 3707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780508" y="3310830"/>
            <a:ext cx="411956" cy="411956"/>
          </a:xfrm>
          <a:prstGeom prst="ellipse">
            <a:avLst/>
          </a:prstGeom>
          <a:solidFill>
            <a:srgbClr val="E5E5E0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93766" y="3424089"/>
            <a:ext cx="185365" cy="18536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780508" y="3855765"/>
            <a:ext cx="2286595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Enable Data-Driven Decisions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4780508" y="4150072"/>
            <a:ext cx="3725317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Deliver reproducible, visual insights through a structured analytics pipeline.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9231"/>
            <a:ext cx="4137720" cy="283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Methodology: The Analytics Pipeline</a:t>
            </a: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496119" y="799281"/>
            <a:ext cx="8608963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structured four-stage pipeline transforms raw transactional data into actionable business intelligence.</a:t>
            </a:r>
            <a:endParaRPr lang="en-US" sz="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983828"/>
            <a:ext cx="8151763" cy="357581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966551" y="3665845"/>
            <a:ext cx="1232034" cy="22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Transformation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2966551" y="3949190"/>
            <a:ext cx="1232034" cy="289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Clean, handle nulls and dedupe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880432" y="3521109"/>
            <a:ext cx="1232034" cy="22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Visualization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880432" y="3804454"/>
            <a:ext cx="1232034" cy="434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Power BI dashboards and reports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52751" y="1305213"/>
            <a:ext cx="1232034" cy="22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 Ingestion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052751" y="1588558"/>
            <a:ext cx="1232034" cy="289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Extract raw vendor and sales data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950944" y="1305213"/>
            <a:ext cx="1232034" cy="441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Statistical Analysis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950944" y="1809155"/>
            <a:ext cx="1232034" cy="434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T-tests and confidence intervals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96119" y="4625057"/>
            <a:ext cx="8608963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Each stage is modular and auditable, ensuring reproducibility and enabling stakeholders to trace insights back to source data.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4851648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Vendor Performance Insights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96119" y="1134070"/>
            <a:ext cx="2210321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Revenue Concentration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96119" y="1473919"/>
            <a:ext cx="3911054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small cohort of high-performing vendors drives the majority of gross profit — a classic Pareto distribution. Understanding this concentration is critical for contract renegotiation and risk management.</a:t>
            </a:r>
            <a:endParaRPr lang="en-US" sz="10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1590" y="1150218"/>
            <a:ext cx="3911054" cy="2815158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069" y="4236095"/>
            <a:ext cx="4014415" cy="53756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9280" y="4255145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Top 20% of vendors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669280" y="4543499"/>
            <a:ext cx="3822204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Generate approximately </a:t>
            </a:r>
            <a:r>
              <a:rPr lang="en-US" sz="10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80% of total revenue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3392" y="4236095"/>
            <a:ext cx="4014490" cy="53756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825603" y="4255145"/>
            <a:ext cx="175825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Bottom 40% of vendors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4825603" y="4543499"/>
            <a:ext cx="382227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Contribute less than </a:t>
            </a:r>
            <a:r>
              <a:rPr lang="en-US" sz="10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5% of gross profit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4618"/>
            <a:ext cx="3870647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Inventory &amp; Pricing Strategy</a:t>
            </a:r>
            <a:endParaRPr lang="en-US" sz="2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951905"/>
            <a:ext cx="3943499" cy="28385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09145" y="941487"/>
            <a:ext cx="18139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Price vs. Sales Volume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4709145" y="1194048"/>
            <a:ext cx="3943499" cy="4598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Higher unit prices consistently correlate with lower sales volumes, revealing underperforming premium brands that may require promotional support or discontinuation.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496119" y="3977357"/>
            <a:ext cx="4034358" cy="771525"/>
          </a:xfrm>
          <a:prstGeom prst="roundRect">
            <a:avLst>
              <a:gd name="adj" fmla="val 5909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ECEC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8902" y="4100140"/>
            <a:ext cx="1442368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Bulk Purchasing Impact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18902" y="4319513"/>
            <a:ext cx="3788792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Vendors offering volume discounts show measurably lower unit costs and higher margins.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613523" y="3977357"/>
            <a:ext cx="4034358" cy="771525"/>
          </a:xfrm>
          <a:prstGeom prst="roundRect">
            <a:avLst>
              <a:gd name="adj" fmla="val 5909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ECEC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36306" y="4100140"/>
            <a:ext cx="1522958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Underperforming Brands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736306" y="4319513"/>
            <a:ext cx="3788792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High-price, low-volume brands are flagged for targeted markdowns or supplier renegotiation.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5808"/>
            <a:ext cx="6320135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Statistical Analysis: Hypothesis Testing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96119" y="1075655"/>
            <a:ext cx="8151763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two-sample T-Test was conducted to determine whether profit margin differences between high and low-performing vendors are statistically significant.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96119" y="1787649"/>
            <a:ext cx="1891159" cy="1463948"/>
          </a:xfrm>
          <a:prstGeom prst="roundRect">
            <a:avLst>
              <a:gd name="adj" fmla="val 3877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5943" y="1927473"/>
            <a:ext cx="1611511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Null Hypothesis (H₀)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5943" y="2267322"/>
            <a:ext cx="1611511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 significant difference in profit margins between vendor groups.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16014" y="1787649"/>
            <a:ext cx="1891159" cy="1463948"/>
          </a:xfrm>
          <a:prstGeom prst="roundRect">
            <a:avLst>
              <a:gd name="adj" fmla="val 3877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5838" y="1927473"/>
            <a:ext cx="1611511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Alternative Hypothesis (H₁)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55838" y="2478435"/>
            <a:ext cx="1611511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High-performing vendors yield significantly higher profit margins.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96119" y="3380333"/>
            <a:ext cx="3911054" cy="830610"/>
          </a:xfrm>
          <a:prstGeom prst="roundRect">
            <a:avLst>
              <a:gd name="adj" fmla="val 6832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943" y="3520157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Significance Level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5943" y="3860006"/>
            <a:ext cx="363140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α = 0.05 (95% confidence threshold)</a:t>
            </a:r>
            <a:endParaRPr lang="en-US" sz="10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1590" y="1787649"/>
            <a:ext cx="3911054" cy="281515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2048"/>
            <a:ext cx="3796605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Key Statistical Findings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96119" y="1130573"/>
            <a:ext cx="4003104" cy="423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p&lt;0.01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694706" y="1706017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P-Value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96119" y="1976512"/>
            <a:ext cx="400310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Highly significant — null hypothesis rejected with strong confidence.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644703" y="1130573"/>
            <a:ext cx="4003179" cy="423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16%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5843290" y="1706017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Margin Gap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644703" y="1976512"/>
            <a:ext cx="4003179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Average profit margin difference between high and low-performing vendor groups.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6119" y="2665437"/>
            <a:ext cx="4003104" cy="423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95%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1694706" y="3240881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Confidence Level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96119" y="3511376"/>
            <a:ext cx="4003104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Results are robust across the tested sample with narrow confidence intervals.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44703" y="2665437"/>
            <a:ext cx="4003179" cy="423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3.2x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5843290" y="3240881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Revenue Multiplier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44703" y="3511376"/>
            <a:ext cx="4003179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Top-tier vendors generate over three times the revenue of the bottom quartile.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6119" y="4034210"/>
            <a:ext cx="8151763" cy="677168"/>
          </a:xfrm>
          <a:prstGeom prst="roundRect">
            <a:avLst>
              <a:gd name="adj" fmla="val 7969"/>
            </a:avLst>
          </a:prstGeom>
          <a:solidFill>
            <a:srgbClr val="E8E8E3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57" y="4215631"/>
            <a:ext cx="160586" cy="128439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913581" y="4182666"/>
            <a:ext cx="7605861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Conclusion:</a:t>
            </a:r>
            <a:r>
              <a:rPr lang="en-US" sz="100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Vendor performance is a statistically significant driver of profitability. Strategic reallocation of purchasing volume toward high-performing vendors is justified by the data.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03932"/>
            <a:ext cx="4520580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Strategic Recommendations</a:t>
            </a:r>
            <a:endParaRPr lang="en-US" sz="25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1092994"/>
            <a:ext cx="4722763" cy="116882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00364" y="1554882"/>
            <a:ext cx="196007" cy="245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4582641" y="1237952"/>
            <a:ext cx="2899097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Renegotiate with High-Volume Partners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4582641" y="1514326"/>
            <a:ext cx="3920282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Leverage purchasing volume data to negotiate improved pricing tiers, payment terms, and exclusivity agreements with top-performing vendors.</a:t>
            </a:r>
            <a:endParaRPr lang="en-US" sz="10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2382292"/>
            <a:ext cx="4722763" cy="116882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100364" y="2844180"/>
            <a:ext cx="196007" cy="245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5"/>
          <p:cNvSpPr/>
          <p:nvPr/>
        </p:nvSpPr>
        <p:spPr>
          <a:xfrm>
            <a:off x="4582641" y="2527250"/>
            <a:ext cx="3326160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Targeted Promotions for Slow-Moving Brands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4582641" y="2803624"/>
            <a:ext cx="3920282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Deploy data-informed markdowns, bundle offers, and seasonal campaigns to clear underperforming inventory and recover tied-up capital.</a:t>
            </a:r>
            <a:endParaRPr lang="en-US" sz="1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3671590"/>
            <a:ext cx="4722763" cy="96797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100364" y="4033019"/>
            <a:ext cx="196007" cy="245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4582641" y="3816548"/>
            <a:ext cx="2064767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Streamline the Supply Chain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4582641" y="4092922"/>
            <a:ext cx="3920282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Consolidate orders with proven vendors, reduce SKU complexity, and implement automated reorder points to improve turnover efficiency.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01861"/>
            <a:ext cx="527863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Next Steps &amp; Project Summary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99208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Immediate Actions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9250" y="1787203"/>
            <a:ext cx="212601" cy="2126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6816" y="1780133"/>
            <a:ext cx="344224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Present findings to procurement and finance leadership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9250" y="2503066"/>
            <a:ext cx="212601" cy="21260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56816" y="2495996"/>
            <a:ext cx="344224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Schedule vendor review meetings for Q1 renegotiations</a:t>
            </a:r>
            <a:endParaRPr lang="en-US" sz="1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9250" y="3218929"/>
            <a:ext cx="212601" cy="21260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56816" y="3211860"/>
            <a:ext cx="344224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Deploy Power BI dashboard for ongoing monitoring</a:t>
            </a:r>
            <a:endParaRPr lang="en-US" sz="11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9250" y="3934792"/>
            <a:ext cx="212601" cy="21260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56816" y="3927723"/>
            <a:ext cx="344224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Establish quarterly analytics review cadence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4749701" y="1399208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Project Deliverables</a:t>
            </a:r>
            <a:endParaRPr lang="en-US" sz="1350" dirty="0"/>
          </a:p>
        </p:txBody>
      </p:sp>
      <p:sp>
        <p:nvSpPr>
          <p:cNvPr id="13" name="Shape 7"/>
          <p:cNvSpPr/>
          <p:nvPr/>
        </p:nvSpPr>
        <p:spPr>
          <a:xfrm>
            <a:off x="4749701" y="1780133"/>
            <a:ext cx="1880592" cy="1119411"/>
          </a:xfrm>
          <a:prstGeom prst="roundRect">
            <a:avLst>
              <a:gd name="adj" fmla="val 5319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4896222" y="1926654"/>
            <a:ext cx="1587550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🗄️</a:t>
            </a: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SQL Database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4896222" y="2299395"/>
            <a:ext cx="158755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Cleaned, structured vendor and sales data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6772052" y="1780133"/>
            <a:ext cx="1880592" cy="1119411"/>
          </a:xfrm>
          <a:prstGeom prst="roundRect">
            <a:avLst>
              <a:gd name="adj" fmla="val 5319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6918573" y="1926654"/>
            <a:ext cx="1587550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🐍</a:t>
            </a: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Python Scripts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6918573" y="2299395"/>
            <a:ext cx="158755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Reusable transformation and analysis pipeline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4749701" y="3041303"/>
            <a:ext cx="1880592" cy="1340867"/>
          </a:xfrm>
          <a:prstGeom prst="roundRect">
            <a:avLst>
              <a:gd name="adj" fmla="val 4441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4896222" y="3187824"/>
            <a:ext cx="1587550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📊</a:t>
            </a: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Power BI Report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4896222" y="3560564"/>
            <a:ext cx="158755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Interactive executive dashboard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6772052" y="3041303"/>
            <a:ext cx="1880592" cy="1340867"/>
          </a:xfrm>
          <a:prstGeom prst="roundRect">
            <a:avLst>
              <a:gd name="adj" fmla="val 4441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6918573" y="3187824"/>
            <a:ext cx="1587550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📋</a:t>
            </a: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Statistical Report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6918573" y="3782020"/>
            <a:ext cx="158755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T-Test results with confidence intervals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672</Words>
  <Application>Microsoft Office PowerPoint</Application>
  <PresentationFormat>On-screen Show (16:9)</PresentationFormat>
  <Paragraphs>103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Lato Bold</vt:lpstr>
      <vt:lpstr>Arial</vt:lpstr>
      <vt:lpstr>Gelasio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Acer</dc:creator>
  <cp:lastModifiedBy>Revathi A.S</cp:lastModifiedBy>
  <cp:revision>1</cp:revision>
  <dcterms:created xsi:type="dcterms:W3CDTF">2026-07-04T10:25:58Z</dcterms:created>
  <dcterms:modified xsi:type="dcterms:W3CDTF">2026-07-06T10:35:55Z</dcterms:modified>
</cp:coreProperties>
</file>